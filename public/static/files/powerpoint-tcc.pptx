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embeddedFontLs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719404-3AB8-4BE5-A8DA-814994A96631}">
  <a:tblStyle styleId="{E1719404-3AB8-4BE5-A8DA-814994A966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CenturyGothic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0e58e092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90e58e0926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0e58e092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0e58e0926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0e58e092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90e58e0926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0e58e092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0e58e0926_0_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69147f2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a69147f292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0e58e092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90e58e0926_0_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0e58e0926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90e58e0926_0_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2 com Imagem">
  <p:cSld name="Slide de Título 2 com Imagem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>
            <p:ph idx="2" type="pic"/>
          </p:nvPr>
        </p:nvSpPr>
        <p:spPr>
          <a:xfrm>
            <a:off x="1" y="0"/>
            <a:ext cx="9143999" cy="396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21153" y="5603181"/>
            <a:ext cx="68580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type="ctrTitle"/>
          </p:nvPr>
        </p:nvSpPr>
        <p:spPr>
          <a:xfrm>
            <a:off x="521153" y="4901451"/>
            <a:ext cx="79552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entury Gothic"/>
              <a:buNone/>
              <a:defRPr b="1" sz="44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326572" y="4726452"/>
            <a:ext cx="54428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8256672" y="6220326"/>
            <a:ext cx="649705" cy="6376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luiz.augusto\Downloads\0.png" id="24" name="Google Shape;2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1088" y="5745088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branc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334736" y="1463040"/>
            <a:ext cx="8417377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indent="-355600" lvl="1" marL="9144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2pPr>
            <a:lvl3pPr indent="-342900" lvl="2" marL="13716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</a:defRPr>
            </a:lvl3pPr>
            <a:lvl4pPr indent="-317500" lvl="3" marL="182880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luiz.augusto\Downloads\0.png" id="29" name="Google Shape;2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+ texto">
  <p:cSld name="Foto + texto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/>
          <p:nvPr>
            <p:ph idx="2" type="pic"/>
          </p:nvPr>
        </p:nvSpPr>
        <p:spPr>
          <a:xfrm>
            <a:off x="0" y="1248876"/>
            <a:ext cx="9144000" cy="211931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551430" y="3802065"/>
            <a:ext cx="8161496" cy="33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b="1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3" type="body"/>
          </p:nvPr>
        </p:nvSpPr>
        <p:spPr>
          <a:xfrm>
            <a:off x="551429" y="4294303"/>
            <a:ext cx="8174559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luiz.augusto\Downloads\0.png"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>
  <p:cSld name="Em branc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luiz.augusto\Downloads\0.png" id="38" name="Google Shape;3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com Imagem">
  <p:cSld name="Slide de Título com Image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>
            <p:ph idx="2" type="pic"/>
          </p:nvPr>
        </p:nvSpPr>
        <p:spPr>
          <a:xfrm>
            <a:off x="92994" y="124954"/>
            <a:ext cx="8958011" cy="43723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1" name="Google Shape;41;p6"/>
          <p:cNvSpPr/>
          <p:nvPr/>
        </p:nvSpPr>
        <p:spPr>
          <a:xfrm>
            <a:off x="-1" y="0"/>
            <a:ext cx="9144001" cy="6858000"/>
          </a:xfrm>
          <a:custGeom>
            <a:rect b="b" l="l" r="r" t="t"/>
            <a:pathLst>
              <a:path extrusionOk="0" h="6858000" w="12192001">
                <a:moveTo>
                  <a:pt x="123993" y="123993"/>
                </a:moveTo>
                <a:lnTo>
                  <a:pt x="123993" y="3209760"/>
                </a:lnTo>
                <a:lnTo>
                  <a:pt x="634550" y="3239110"/>
                </a:lnTo>
                <a:cubicBezTo>
                  <a:pt x="2075869" y="3336071"/>
                  <a:pt x="3385009" y="3527056"/>
                  <a:pt x="4981292" y="3896515"/>
                </a:cubicBezTo>
                <a:cubicBezTo>
                  <a:pt x="8705260" y="4758425"/>
                  <a:pt x="10244424" y="4503819"/>
                  <a:pt x="11543532" y="4276704"/>
                </a:cubicBezTo>
                <a:lnTo>
                  <a:pt x="12068007" y="4188307"/>
                </a:lnTo>
                <a:lnTo>
                  <a:pt x="12068007" y="12399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167393"/>
                </a:lnTo>
                <a:lnTo>
                  <a:pt x="12192001" y="4167393"/>
                </a:lnTo>
                <a:lnTo>
                  <a:pt x="12192001" y="4799849"/>
                </a:lnTo>
                <a:lnTo>
                  <a:pt x="12192001" y="4950491"/>
                </a:lnTo>
                <a:lnTo>
                  <a:pt x="12192001" y="6858000"/>
                </a:lnTo>
                <a:lnTo>
                  <a:pt x="12192000" y="685800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521153" y="5603181"/>
            <a:ext cx="68580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3F4E"/>
              </a:buClr>
              <a:buSzPts val="1800"/>
              <a:buNone/>
              <a:defRPr sz="1800">
                <a:solidFill>
                  <a:srgbClr val="023F4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ctrTitle"/>
          </p:nvPr>
        </p:nvSpPr>
        <p:spPr>
          <a:xfrm>
            <a:off x="521153" y="4901451"/>
            <a:ext cx="79552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entury Gothic"/>
              <a:buNone/>
              <a:defRPr b="1" sz="44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/>
          <p:nvPr/>
        </p:nvSpPr>
        <p:spPr>
          <a:xfrm>
            <a:off x="326572" y="4726452"/>
            <a:ext cx="54428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com Imagem 1">
  <p:cSld name="Cabeçalho da Seção com Imagem 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 flipH="1" rot="10800000">
            <a:off x="-1" y="-2"/>
            <a:ext cx="9144001" cy="6858003"/>
          </a:xfrm>
          <a:custGeom>
            <a:rect b="b" l="l" r="r" t="t"/>
            <a:pathLst>
              <a:path extrusionOk="0" h="6858003" w="12192001">
                <a:moveTo>
                  <a:pt x="9171734" y="2269381"/>
                </a:moveTo>
                <a:cubicBezTo>
                  <a:pt x="8159059" y="2253684"/>
                  <a:pt x="6843276" y="2101858"/>
                  <a:pt x="4981292" y="1670903"/>
                </a:cubicBezTo>
                <a:cubicBezTo>
                  <a:pt x="3385010" y="1301444"/>
                  <a:pt x="2075869" y="1110459"/>
                  <a:pt x="634550" y="1013497"/>
                </a:cubicBezTo>
                <a:lnTo>
                  <a:pt x="123993" y="984148"/>
                </a:lnTo>
                <a:lnTo>
                  <a:pt x="123993" y="123993"/>
                </a:lnTo>
                <a:lnTo>
                  <a:pt x="12068007" y="123993"/>
                </a:lnTo>
                <a:lnTo>
                  <a:pt x="12068007" y="1962695"/>
                </a:lnTo>
                <a:lnTo>
                  <a:pt x="11543532" y="2051091"/>
                </a:lnTo>
                <a:cubicBezTo>
                  <a:pt x="10893978" y="2164649"/>
                  <a:pt x="10184410" y="2285079"/>
                  <a:pt x="9171734" y="2269381"/>
                </a:cubicBezTo>
                <a:close/>
                <a:moveTo>
                  <a:pt x="1" y="6858003"/>
                </a:moveTo>
                <a:lnTo>
                  <a:pt x="12192001" y="6858003"/>
                </a:lnTo>
                <a:lnTo>
                  <a:pt x="12192001" y="2724879"/>
                </a:lnTo>
                <a:lnTo>
                  <a:pt x="12192001" y="2477360"/>
                </a:lnTo>
                <a:lnTo>
                  <a:pt x="12192001" y="1941781"/>
                </a:lnTo>
                <a:lnTo>
                  <a:pt x="12192000" y="1941781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" name="Google Shape;47;p7"/>
          <p:cNvSpPr/>
          <p:nvPr>
            <p:ph idx="2" type="pic"/>
          </p:nvPr>
        </p:nvSpPr>
        <p:spPr>
          <a:xfrm>
            <a:off x="92994" y="4587877"/>
            <a:ext cx="8958011" cy="21467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522514" y="1611383"/>
            <a:ext cx="7249886" cy="746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entury Gothic"/>
              <a:buNone/>
              <a:defRPr sz="48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522514" y="2464425"/>
            <a:ext cx="7249886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7"/>
          <p:cNvSpPr/>
          <p:nvPr/>
        </p:nvSpPr>
        <p:spPr>
          <a:xfrm>
            <a:off x="326572" y="1532049"/>
            <a:ext cx="54428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b="1" lang="pt-BR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luiz.augusto\Downloads\0.png" id="53" name="Google Shape;53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com Imagem 2">
  <p:cSld name="Cabeçalho da Seção com Imagem 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>
            <p:ph idx="2" type="pic"/>
          </p:nvPr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522514" y="3860800"/>
            <a:ext cx="7249886" cy="1686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522514" y="5610171"/>
            <a:ext cx="7249886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8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8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b="1" lang="pt-BR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Título e Conteúdo">
    <p:bg>
      <p:bgPr>
        <a:solidFill>
          <a:srgbClr val="F2F2F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-1" y="0"/>
            <a:ext cx="9144001" cy="6858000"/>
          </a:xfrm>
          <a:prstGeom prst="frame">
            <a:avLst>
              <a:gd fmla="val 1736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b="1" lang="pt-BR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" type="body"/>
          </p:nvPr>
        </p:nvSpPr>
        <p:spPr>
          <a:xfrm>
            <a:off x="334737" y="1463040"/>
            <a:ext cx="8404314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1pPr>
            <a:lvl2pPr indent="-342900" lvl="1" marL="9144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</a:defRPr>
            </a:lvl2pPr>
            <a:lvl3pPr indent="-330200" lvl="2" marL="137160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3pPr>
            <a:lvl4pPr indent="-317500" lvl="3" marL="182880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>
  <p:cSld name="Somente Título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:\Users\luiz.augusto\Downloads\0.png" id="70" name="Google Shape;7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>
  <p:cSld name="Comparação">
    <p:bg>
      <p:bgPr>
        <a:solidFill>
          <a:srgbClr val="F2F2F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-1" y="0"/>
            <a:ext cx="9144001" cy="6858000"/>
          </a:xfrm>
          <a:prstGeom prst="frame">
            <a:avLst>
              <a:gd fmla="val 1736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1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11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fld id="{00000000-1234-1234-1234-123412341234}" type="slidenum">
              <a:rPr b="1" lang="pt-BR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6" name="Google Shape;76;p11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29175" y="1463347"/>
            <a:ext cx="3886200" cy="4870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b="1" sz="2400">
                <a:solidFill>
                  <a:schemeClr val="accent6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4829174" y="2149311"/>
            <a:ext cx="3886201" cy="404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3" type="body"/>
          </p:nvPr>
        </p:nvSpPr>
        <p:spPr>
          <a:xfrm>
            <a:off x="334736" y="1463347"/>
            <a:ext cx="3980090" cy="4870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b="1" sz="2400">
                <a:solidFill>
                  <a:schemeClr val="accent3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11"/>
          <p:cNvSpPr txBox="1"/>
          <p:nvPr>
            <p:ph idx="4" type="body"/>
          </p:nvPr>
        </p:nvSpPr>
        <p:spPr>
          <a:xfrm>
            <a:off x="334736" y="2149311"/>
            <a:ext cx="3980092" cy="404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 de fundo branco">
  <p:cSld name="Comparação de fundo branco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428625" y="1509626"/>
            <a:ext cx="3675290" cy="33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b="1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2" type="body"/>
          </p:nvPr>
        </p:nvSpPr>
        <p:spPr>
          <a:xfrm>
            <a:off x="5040085" y="1509626"/>
            <a:ext cx="3675290" cy="33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b="1" sz="24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3" type="body"/>
          </p:nvPr>
        </p:nvSpPr>
        <p:spPr>
          <a:xfrm>
            <a:off x="428625" y="2156689"/>
            <a:ext cx="3675290" cy="3561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4" type="body"/>
          </p:nvPr>
        </p:nvSpPr>
        <p:spPr>
          <a:xfrm>
            <a:off x="5040085" y="2156689"/>
            <a:ext cx="3675290" cy="3561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:\Users\luiz.augusto\Downloads\0.png" id="88" name="Google Shape;8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+ Três Seções">
  <p:cSld name="Foto + Três Seçõe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" name="Google Shape;91;p13"/>
          <p:cNvSpPr/>
          <p:nvPr>
            <p:ph idx="2" type="pic"/>
          </p:nvPr>
        </p:nvSpPr>
        <p:spPr>
          <a:xfrm>
            <a:off x="0" y="1248876"/>
            <a:ext cx="9144000" cy="211931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551430" y="3802065"/>
            <a:ext cx="2115571" cy="33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b="1" sz="2400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3" type="body"/>
          </p:nvPr>
        </p:nvSpPr>
        <p:spPr>
          <a:xfrm>
            <a:off x="3467270" y="3802065"/>
            <a:ext cx="2115571" cy="33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b="1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4" type="body"/>
          </p:nvPr>
        </p:nvSpPr>
        <p:spPr>
          <a:xfrm>
            <a:off x="6477000" y="3802065"/>
            <a:ext cx="2115571" cy="33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A8201"/>
              </a:buClr>
              <a:buSzPts val="2400"/>
              <a:buNone/>
              <a:defRPr b="1" sz="2400">
                <a:solidFill>
                  <a:srgbClr val="5A820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5" type="body"/>
          </p:nvPr>
        </p:nvSpPr>
        <p:spPr>
          <a:xfrm>
            <a:off x="551430" y="4294303"/>
            <a:ext cx="2115571" cy="1496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6" type="body"/>
          </p:nvPr>
        </p:nvSpPr>
        <p:spPr>
          <a:xfrm>
            <a:off x="3467270" y="4294303"/>
            <a:ext cx="2115571" cy="1496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7" type="body"/>
          </p:nvPr>
        </p:nvSpPr>
        <p:spPr>
          <a:xfrm>
            <a:off x="6477000" y="4294303"/>
            <a:ext cx="2115571" cy="1496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:\Users\luiz.augusto\Downloads\0.png" id="99" name="Google Shape;9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ia Página Foto + Texto">
  <p:cSld name="Meia Página Foto + Texto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>
            <p:ph idx="2" type="pic"/>
          </p:nvPr>
        </p:nvSpPr>
        <p:spPr>
          <a:xfrm>
            <a:off x="4724400" y="0"/>
            <a:ext cx="44196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2" name="Google Shape;102;p14"/>
          <p:cNvSpPr txBox="1"/>
          <p:nvPr>
            <p:ph type="title"/>
          </p:nvPr>
        </p:nvSpPr>
        <p:spPr>
          <a:xfrm>
            <a:off x="334736" y="244478"/>
            <a:ext cx="3878036" cy="15881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428625" y="2061165"/>
            <a:ext cx="3784147" cy="334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b="1" sz="24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3" type="body"/>
          </p:nvPr>
        </p:nvSpPr>
        <p:spPr>
          <a:xfrm>
            <a:off x="428625" y="2708228"/>
            <a:ext cx="3784147" cy="3561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0" sz="20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4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b="1" lang="pt-BR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 flipH="1">
            <a:off x="92991" y="124955"/>
            <a:ext cx="8965061" cy="4408002"/>
          </a:xfrm>
          <a:custGeom>
            <a:rect b="b" l="l" r="r" t="t"/>
            <a:pathLst>
              <a:path extrusionOk="0" h="24785" w="21617">
                <a:moveTo>
                  <a:pt x="17" y="0"/>
                </a:moveTo>
                <a:lnTo>
                  <a:pt x="21617" y="0"/>
                </a:lnTo>
                <a:lnTo>
                  <a:pt x="21617" y="17322"/>
                </a:lnTo>
                <a:cubicBezTo>
                  <a:pt x="10919" y="19230"/>
                  <a:pt x="10221" y="28798"/>
                  <a:pt x="0" y="22875"/>
                </a:cubicBezTo>
                <a:cubicBezTo>
                  <a:pt x="6" y="15250"/>
                  <a:pt x="11" y="7625"/>
                  <a:pt x="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" name="Google Shape;110;p15"/>
          <p:cNvSpPr txBox="1"/>
          <p:nvPr>
            <p:ph idx="1" type="subTitle"/>
          </p:nvPr>
        </p:nvSpPr>
        <p:spPr>
          <a:xfrm>
            <a:off x="521153" y="5603181"/>
            <a:ext cx="6858000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23F4E"/>
              </a:buClr>
              <a:buSzPts val="1800"/>
              <a:buNone/>
              <a:defRPr sz="1800">
                <a:solidFill>
                  <a:srgbClr val="023F4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type="ctrTitle"/>
          </p:nvPr>
        </p:nvSpPr>
        <p:spPr>
          <a:xfrm>
            <a:off x="521153" y="4901451"/>
            <a:ext cx="7955280" cy="70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entury Gothic"/>
              <a:buNone/>
              <a:defRPr b="1" sz="44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/>
          <p:nvPr/>
        </p:nvSpPr>
        <p:spPr>
          <a:xfrm>
            <a:off x="326572" y="4726452"/>
            <a:ext cx="54428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 rot="10800000">
            <a:off x="85943" y="4581493"/>
            <a:ext cx="8972111" cy="2152681"/>
          </a:xfrm>
          <a:custGeom>
            <a:rect b="b" l="l" r="r" t="t"/>
            <a:pathLst>
              <a:path extrusionOk="0" h="42123" w="21634">
                <a:moveTo>
                  <a:pt x="34" y="0"/>
                </a:moveTo>
                <a:lnTo>
                  <a:pt x="21634" y="0"/>
                </a:lnTo>
                <a:lnTo>
                  <a:pt x="21634" y="17322"/>
                </a:lnTo>
                <a:cubicBezTo>
                  <a:pt x="10970" y="21444"/>
                  <a:pt x="9198" y="56098"/>
                  <a:pt x="0" y="35787"/>
                </a:cubicBezTo>
                <a:cubicBezTo>
                  <a:pt x="6" y="28162"/>
                  <a:pt x="28" y="7625"/>
                  <a:pt x="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522514" y="1611383"/>
            <a:ext cx="7249886" cy="746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entury Gothic"/>
              <a:buNone/>
              <a:defRPr sz="48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522514" y="2464425"/>
            <a:ext cx="7249886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p16"/>
          <p:cNvSpPr/>
          <p:nvPr/>
        </p:nvSpPr>
        <p:spPr>
          <a:xfrm>
            <a:off x="326572" y="1532049"/>
            <a:ext cx="54428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fld id="{00000000-1234-1234-1234-123412341234}" type="slidenum">
              <a:rPr b="1" lang="pt-BR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luiz.augusto\Downloads\0.png" id="120" name="Google Shape;12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">
  <p:cSld name="Dois conteúdos">
    <p:bg>
      <p:bgPr>
        <a:solidFill>
          <a:srgbClr val="F2F2F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-1" y="0"/>
            <a:ext cx="9144001" cy="6858000"/>
          </a:xfrm>
          <a:prstGeom prst="frame">
            <a:avLst>
              <a:gd fmla="val 1736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fld id="{00000000-1234-1234-1234-123412341234}" type="slidenum">
              <a:rPr b="1" lang="pt-BR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1" type="body"/>
          </p:nvPr>
        </p:nvSpPr>
        <p:spPr>
          <a:xfrm>
            <a:off x="334736" y="1825625"/>
            <a:ext cx="398009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2" type="body"/>
          </p:nvPr>
        </p:nvSpPr>
        <p:spPr>
          <a:xfrm>
            <a:off x="4829175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>
  <p:cSld name="Conteúdo com Legenda">
    <p:bg>
      <p:bgPr>
        <a:solidFill>
          <a:srgbClr val="F2F2F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-1" y="0"/>
            <a:ext cx="9144001" cy="6858000"/>
          </a:xfrm>
          <a:prstGeom prst="frame">
            <a:avLst>
              <a:gd fmla="val 1736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fld id="{00000000-1234-1234-1234-123412341234}" type="slidenum">
              <a:rPr b="1" lang="pt-BR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629841" y="235446"/>
            <a:ext cx="2949178" cy="208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18"/>
          <p:cNvSpPr txBox="1"/>
          <p:nvPr>
            <p:ph idx="2" type="body"/>
          </p:nvPr>
        </p:nvSpPr>
        <p:spPr>
          <a:xfrm>
            <a:off x="3887391" y="500216"/>
            <a:ext cx="4629150" cy="536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>
  <p:cSld name="Imagem com Legenda">
    <p:bg>
      <p:bgPr>
        <a:solidFill>
          <a:srgbClr val="F2F2F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-1" y="0"/>
            <a:ext cx="9144001" cy="6858000"/>
          </a:xfrm>
          <a:prstGeom prst="frame">
            <a:avLst>
              <a:gd fmla="val 1736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334736" y="-1"/>
            <a:ext cx="89154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b="1" lang="pt-BR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19"/>
          <p:cNvSpPr txBox="1"/>
          <p:nvPr>
            <p:ph type="title"/>
          </p:nvPr>
        </p:nvSpPr>
        <p:spPr>
          <a:xfrm>
            <a:off x="629841" y="235446"/>
            <a:ext cx="2949178" cy="208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19"/>
          <p:cNvSpPr/>
          <p:nvPr>
            <p:ph idx="2" type="pic"/>
          </p:nvPr>
        </p:nvSpPr>
        <p:spPr>
          <a:xfrm>
            <a:off x="3887391" y="500216"/>
            <a:ext cx="4629150" cy="536877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citação">
  <p:cSld name="Slide de citação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/>
          <p:nvPr>
            <p:ph idx="2" type="pic"/>
          </p:nvPr>
        </p:nvSpPr>
        <p:spPr>
          <a:xfrm>
            <a:off x="90488" y="136525"/>
            <a:ext cx="8963025" cy="65849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1190625" y="4022725"/>
            <a:ext cx="7524750" cy="1236236"/>
          </a:xfrm>
          <a:prstGeom prst="rect">
            <a:avLst/>
          </a:prstGeom>
          <a:solidFill>
            <a:schemeClr val="dk1">
              <a:alpha val="67843"/>
            </a:schemeClr>
          </a:solidFill>
          <a:ln>
            <a:noFill/>
          </a:ln>
        </p:spPr>
        <p:txBody>
          <a:bodyPr anchorCtr="0" anchor="ctr" bIns="274300" lIns="274300" spcFirstLastPara="1" rIns="274300" wrap="square" tIns="274300">
            <a:spAutoFit/>
          </a:bodyPr>
          <a:lstStyle>
            <a:lvl1pPr indent="-228600" lvl="0" marL="45720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3" type="body"/>
          </p:nvPr>
        </p:nvSpPr>
        <p:spPr>
          <a:xfrm>
            <a:off x="252412" y="3269342"/>
            <a:ext cx="866525" cy="25760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2875" spcFirstLastPara="1" rIns="182875" wrap="square" tIns="182875">
            <a:spAutoFit/>
          </a:bodyPr>
          <a:lstStyle>
            <a:lvl1pPr indent="-2286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600"/>
              <a:buNone/>
              <a:defRPr b="1" sz="1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0"/>
          <p:cNvSpPr/>
          <p:nvPr/>
        </p:nvSpPr>
        <p:spPr>
          <a:xfrm>
            <a:off x="-1" y="0"/>
            <a:ext cx="9144001" cy="6858000"/>
          </a:xfrm>
          <a:prstGeom prst="frame">
            <a:avLst>
              <a:gd fmla="val 1736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b="1" lang="pt-BR" sz="1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" name="Google Shape;152;p20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Agradecimento">
  <p:cSld name="Slide de Agradecimento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>
            <p:ph idx="2" type="pic"/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5" name="Google Shape;155;p21"/>
          <p:cNvSpPr txBox="1"/>
          <p:nvPr>
            <p:ph type="ctrTitle"/>
          </p:nvPr>
        </p:nvSpPr>
        <p:spPr>
          <a:xfrm>
            <a:off x="521154" y="4901451"/>
            <a:ext cx="3680732" cy="70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 b="1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b="1" i="0" sz="3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34735" y="1253331"/>
            <a:ext cx="8380640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34736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8520012" y="6369050"/>
            <a:ext cx="251932" cy="4889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8520012" y="6369051"/>
            <a:ext cx="251932" cy="365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b="1" i="0" lang="pt-BR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i="0" sz="1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C:\Users\luiz.augusto\Downloads\0.png"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28384" y="11832"/>
            <a:ext cx="1112912" cy="11129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 txBox="1"/>
          <p:nvPr/>
        </p:nvSpPr>
        <p:spPr>
          <a:xfrm>
            <a:off x="63500" y="6642100"/>
            <a:ext cx="40481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6607083"/>
            <a:ext cx="611560" cy="2509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60">
          <p15:clr>
            <a:srgbClr val="F26B43"/>
          </p15:clr>
        </p15:guide>
        <p15:guide id="4" pos="7320">
          <p15:clr>
            <a:srgbClr val="F26B43"/>
          </p15:clr>
        </p15:guide>
        <p15:guide id="5" orient="horz" pos="360">
          <p15:clr>
            <a:srgbClr val="F26B43"/>
          </p15:clr>
        </p15:guide>
        <p15:guide id="6" orient="horz" pos="3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derp-matriz_1.jpg" id="160" name="Google Shape;160;p22"/>
          <p:cNvPicPr preferRelativeResize="0"/>
          <p:nvPr/>
        </p:nvPicPr>
        <p:blipFill rotWithShape="1">
          <a:blip r:embed="rId3">
            <a:alphaModFix/>
          </a:blip>
          <a:srcRect b="32089" l="0" r="0" t="3232"/>
          <a:stretch/>
        </p:blipFill>
        <p:spPr>
          <a:xfrm>
            <a:off x="1" y="10"/>
            <a:ext cx="9143999" cy="396239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>
            <p:ph idx="1" type="subTitle"/>
          </p:nvPr>
        </p:nvSpPr>
        <p:spPr>
          <a:xfrm>
            <a:off x="492125" y="5742675"/>
            <a:ext cx="6881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</a:pPr>
            <a:r>
              <a:rPr b="1" lang="pt-BR" sz="2800"/>
              <a:t>GUILHERME VIEIRA MOREIRA DE FREITAS</a:t>
            </a:r>
            <a:endParaRPr/>
          </a:p>
        </p:txBody>
      </p:sp>
      <p:sp>
        <p:nvSpPr>
          <p:cNvPr id="162" name="Google Shape;162;p22"/>
          <p:cNvSpPr txBox="1"/>
          <p:nvPr>
            <p:ph type="ctrTitle"/>
          </p:nvPr>
        </p:nvSpPr>
        <p:spPr>
          <a:xfrm>
            <a:off x="492124" y="4518532"/>
            <a:ext cx="795528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entury Gothic"/>
              <a:buNone/>
            </a:pPr>
            <a:r>
              <a:rPr lang="pt-BR" sz="3600"/>
              <a:t>Banca de Defesa de </a:t>
            </a:r>
            <a:br>
              <a:rPr lang="pt-BR" sz="3600"/>
            </a:br>
            <a:r>
              <a:rPr lang="pt-BR" sz="3600"/>
              <a:t>Trabalho de Conclusão de Curso II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Apresentação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334736" y="1463040"/>
            <a:ext cx="8417377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b="1" lang="pt-BR"/>
              <a:t>Nome: </a:t>
            </a:r>
            <a:r>
              <a:rPr lang="pt-BR"/>
              <a:t>Guilherme Vieira Moreira de Freitas</a:t>
            </a:r>
            <a:endParaRPr/>
          </a:p>
          <a:p>
            <a:pPr indent="-762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b="1" lang="pt-BR"/>
              <a:t>Título: </a:t>
            </a:r>
            <a:r>
              <a:rPr lang="pt-BR"/>
              <a:t>Balanceamento De Carga Em Sistemas Distribuídos: Métodos e Desafios Na Alocação Dinâmica De Carga</a:t>
            </a:r>
            <a:endParaRPr/>
          </a:p>
          <a:p>
            <a:pPr indent="-762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b="1" lang="pt-BR"/>
              <a:t>Orientador(a): </a:t>
            </a:r>
            <a:r>
              <a:rPr lang="pt-BR"/>
              <a:t>Noiza Waltrick Trindade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Introdução 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34736" y="1463040"/>
            <a:ext cx="8417377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/>
              <a:t>Com </a:t>
            </a:r>
            <a:r>
              <a:rPr lang="pt-BR"/>
              <a:t>a desmedida demanda por processamento</a:t>
            </a:r>
            <a:r>
              <a:rPr lang="pt-BR"/>
              <a:t>, os sistemas distribuídos tornaram-se a arquitetura fundamental para serviços em nuvem e redes descentralizadas.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/>
              <a:t>Neste cenário, o balanceamento de carga surge como um mecanismo essencial para garantir o desempenho e a confiabilidade, distribuindo tarefas de forma a evitar a sobrecarga de alguns nós enquanto outros permanecem subutilizados.</a:t>
            </a:r>
            <a:endParaRPr/>
          </a:p>
          <a:p>
            <a:pPr indent="-762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334735" y="250917"/>
            <a:ext cx="8380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Introdução 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334736" y="1463040"/>
            <a:ext cx="8417400" cy="4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/>
              <a:t>A má distribuição de carga gera gargalos e instabilidade no sistema. Portanto, esta pesquisa investiga como os diferentes algoritmos de balanceamento impactam a performance, a escalabilidade e a eficiência dos recursos.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/>
              <a:t>A relevância do estudo está em garantir a alta disponibilidade de serviços essenciais à sociedade, como finanças e saúde, gerando contribuições diretas tanto para a academia quanto para o setor de tecnologia.</a:t>
            </a:r>
            <a:endParaRPr/>
          </a:p>
          <a:p>
            <a:pPr indent="-762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Problema de Pesquisa</a:t>
            </a:r>
            <a:endParaRPr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334736" y="1463040"/>
            <a:ext cx="8417377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</a:pPr>
            <a:r>
              <a:rPr lang="pt-BR"/>
              <a:t>Objetivo geral: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Analisar os principais algoritmos de balanceamento de carga em sistemas distribuídos, identificando suas características, vantagens e limitações, a fim de compreender seu impacto no desempenho e na escalabilidade desses sistemas.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pt-BR">
                <a:solidFill>
                  <a:schemeClr val="dk2"/>
                </a:solidFill>
              </a:rPr>
              <a:t>Objetivos específicos:</a:t>
            </a:r>
            <a:endParaRPr>
              <a:solidFill>
                <a:schemeClr val="dk2"/>
              </a:solidFill>
            </a:endParaRPr>
          </a:p>
          <a:p>
            <a:pPr indent="-22860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pt-BR"/>
              <a:t>Classificar as abordagens de balanceamento de carga em estáticas e dinâmicas. 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pt-BR"/>
              <a:t>Discutir a aplicação dos algoritmos em cenários como nuvem, névoa e redes peer-to-peer. 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pt-BR"/>
              <a:t>Explorar tendências recentes e novas estratégias para a otimização do balanceamento de carga.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92" name="Google Shape;192;p27"/>
          <p:cNvSpPr txBox="1"/>
          <p:nvPr>
            <p:ph idx="1" type="body"/>
          </p:nvPr>
        </p:nvSpPr>
        <p:spPr>
          <a:xfrm>
            <a:off x="334736" y="1463040"/>
            <a:ext cx="8417377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Este trabalho foi conduzido por meio de uma revisão de literatura, com abordagem qualitativa e descritiva, para analisar e sintetizar a produção acadêmica sobre o tema.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A pesquisa se baseou na consulta de livros, dissertações e artigos científicos relevantes, coletados em bases de dados acadêmicas. Foram utilizados descritores como “Gerenciamento de carga” e “Otimização de recursos”, priorizando publicações dos últimos </a:t>
            </a:r>
            <a:r>
              <a:rPr lang="pt-BR"/>
              <a:t>dez</a:t>
            </a:r>
            <a:r>
              <a:rPr lang="pt-BR"/>
              <a:t> anos, sem desconsiderar obras clássicas que fundamentam a área.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34735" y="250917"/>
            <a:ext cx="83805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 sz="3400"/>
              <a:t>Fundamentos do Balanceamento de Carga</a:t>
            </a:r>
            <a:endParaRPr sz="3300"/>
          </a:p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334736" y="1463040"/>
            <a:ext cx="8417377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 sz="2200"/>
              <a:t>O balanceamento de carga é um mecanismo que distribui o tráfego de forma equitativa entre múltiplos servidores. Conforme ilustrado, ele atua como um ponto central de entrada, evitando que um único nó se sobrecarregue, o que garante a alta disponibilidade e a resiliência de um sistema.</a:t>
            </a:r>
            <a:endParaRPr sz="2200"/>
          </a:p>
          <a:p>
            <a:pPr indent="-762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99" name="Google Shape;1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2187" y="3508450"/>
            <a:ext cx="4639618" cy="27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34735" y="250917"/>
            <a:ext cx="83805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 sz="3400"/>
              <a:t>Fundamentos do Balanceamento de Carga</a:t>
            </a:r>
            <a:endParaRPr sz="3300"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334736" y="1463040"/>
            <a:ext cx="8417400" cy="4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A lógica de distribuição é governada por um conjunto de políticas (Casavant &amp; Kuhl, 1988):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/>
              <a:t>Política de Informação</a:t>
            </a:r>
            <a:r>
              <a:rPr lang="pt-BR"/>
              <a:t>: Define quais dados de carga coletar (CPU, memória). 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/>
              <a:t>Política de Transferência</a:t>
            </a:r>
            <a:r>
              <a:rPr lang="pt-BR"/>
              <a:t>: Determina quando um nó está sobrecarregado. 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pt-BR"/>
              <a:t>Política de Localização</a:t>
            </a:r>
            <a:r>
              <a:rPr lang="pt-BR"/>
              <a:t>: Seleciona para onde a carga será transferida.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0"/>
          <p:cNvSpPr txBox="1"/>
          <p:nvPr>
            <p:ph type="title"/>
          </p:nvPr>
        </p:nvSpPr>
        <p:spPr>
          <a:xfrm>
            <a:off x="334735" y="250917"/>
            <a:ext cx="83805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 sz="3400"/>
              <a:t>Abordagens: Estático vs. Dinâmico</a:t>
            </a:r>
            <a:endParaRPr sz="3300"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334736" y="1463040"/>
            <a:ext cx="8417400" cy="4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/>
              <a:t>As estratégias de balanceamento dividem-se em duas categorias fundamentais, com lógicas de operação opostas e casos de uso distintos.</a:t>
            </a:r>
            <a:endParaRPr/>
          </a:p>
          <a:p>
            <a:pPr indent="-762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12" name="Google Shape;212;p30"/>
          <p:cNvGraphicFramePr/>
          <p:nvPr/>
        </p:nvGraphicFramePr>
        <p:xfrm>
          <a:off x="952500" y="3114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{E1719404-3AB8-4BE5-A8DA-814994A96631}</a:tableStyleId>
              </a:tblPr>
              <a:tblGrid>
                <a:gridCol w="3619500"/>
                <a:gridCol w="3619500"/>
              </a:tblGrid>
              <a:tr h="48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Estrat</a:t>
                      </a:r>
                      <a:r>
                        <a:rPr b="1" lang="pt-BR"/>
                        <a:t>égias estáticas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Estratégias dinâmicas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3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Lógica de Operação: </a:t>
                      </a:r>
                      <a:r>
                        <a:rPr lang="pt-BR"/>
                        <a:t>Tomam decisões com base em regras fixas, sem analisar o estado atual do sistema.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Lógica de Operação:</a:t>
                      </a:r>
                      <a:r>
                        <a:rPr lang="pt-BR"/>
                        <a:t> Monitoram o estado dos nós continuamente para tomar decisões em tempo real.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Vantagens:</a:t>
                      </a:r>
                      <a:r>
                        <a:rPr lang="pt-BR"/>
                        <a:t> Simplicidade na implementação e baixo overhead computacional.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Vantagens:</a:t>
                      </a:r>
                      <a:r>
                        <a:rPr lang="pt-BR"/>
                        <a:t> Alta adaptabilidade a cargas variáveis e maior eficiência na distribuição.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Ideal para:</a:t>
                      </a:r>
                      <a:r>
                        <a:rPr lang="pt-BR"/>
                        <a:t> Ambientes com cargas de trabalho homogêneas e previsíveis.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Ideal para:</a:t>
                      </a:r>
                      <a:r>
                        <a:rPr lang="pt-BR"/>
                        <a:t> Ambientes com cargas flutuantes e imprevisíveis, como a maioria dos sistemas web modernos.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>
            <p:ph type="title"/>
          </p:nvPr>
        </p:nvSpPr>
        <p:spPr>
          <a:xfrm>
            <a:off x="334735" y="250917"/>
            <a:ext cx="83805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 sz="3400"/>
              <a:t>Algoritmos Analisados e Aplicações</a:t>
            </a:r>
            <a:endParaRPr sz="3300"/>
          </a:p>
        </p:txBody>
      </p:sp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334725" y="1284050"/>
            <a:ext cx="8468700" cy="50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Dentro das abordagens estáticas e dinâmicas, diversos algoritmos foram analisados neste trabalho para compreender seu impacto no desempenho do sistema.</a:t>
            </a:r>
            <a:endParaRPr/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Algoritmos Estáticos Abordados: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Round Robin (Sequência Circular) 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Weighted Round Robin (Ponderado) 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IP Hash (Afinidade de Sessão)</a:t>
            </a:r>
            <a:endParaRPr/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Algoritmos Dinâmicos Abordados: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Least Connections (Menos Conexões) 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Weighted Least Connections </a:t>
            </a:r>
            <a:endParaRPr/>
          </a:p>
          <a:p>
            <a:pPr indent="-3556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Least Response Time (Menor Tempo de Resposta)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/>
              <a:t>A escolha do algoritmo ideal varia conforme o cenário.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334735" y="250917"/>
            <a:ext cx="8380500" cy="10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 sz="3400"/>
              <a:t>Tendências Emergentes no Balanceamento de Carga</a:t>
            </a:r>
            <a:endParaRPr sz="3300"/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334725" y="1284050"/>
            <a:ext cx="8468700" cy="50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Tendências</a:t>
            </a:r>
            <a:r>
              <a:rPr b="1" lang="pt-BR"/>
              <a:t> Emergentes</a:t>
            </a:r>
            <a:endParaRPr b="1"/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pt-BR"/>
              <a:t>Cloud Computing:</a:t>
            </a:r>
            <a:r>
              <a:rPr lang="pt-BR"/>
              <a:t> LBaaS, balanceadores L4/L7, roteamento por conteúdo. </a:t>
            </a:r>
            <a:endParaRPr/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pt-BR"/>
              <a:t>Fog/Edge Computing:</a:t>
            </a:r>
            <a:r>
              <a:rPr lang="pt-BR"/>
              <a:t> decisões multinível para reduzir latência. </a:t>
            </a:r>
            <a:endParaRPr/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pt-BR"/>
              <a:t>Redes P2P:</a:t>
            </a:r>
            <a:r>
              <a:rPr lang="pt-BR"/>
              <a:t> distribuição descentralizada via DHTs. </a:t>
            </a:r>
            <a:endParaRPr/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pt-BR"/>
              <a:t>IA e Machine Learning:</a:t>
            </a:r>
            <a:r>
              <a:rPr lang="pt-BR"/>
              <a:t> sistemas preditivos e adaptação automática. </a:t>
            </a:r>
            <a:endParaRPr/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pt-BR"/>
              <a:t>Segurança:</a:t>
            </a:r>
            <a:r>
              <a:rPr lang="pt-BR"/>
              <a:t> mitigação de DDoS, integração com WAF e rate limiting. </a:t>
            </a:r>
            <a:endParaRPr/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pt-BR"/>
              <a:t>Eficiência Energética:</a:t>
            </a:r>
            <a:r>
              <a:rPr lang="pt-BR"/>
              <a:t> balanceamento consciente de energia e consolidação de cargas.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Considerações finais </a:t>
            </a:r>
            <a:endParaRPr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34736" y="1463040"/>
            <a:ext cx="8417377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pt-BR"/>
              <a:t>A análise da literatura permitiu concluir que os algoritmos de balanceamento de carga impactam diretamente o desempenho, a escalabilidade e a eficiência de um sistema, respondendo ao problema central da pesquisa.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34735" y="250917"/>
            <a:ext cx="8380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Considerações finais 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334736" y="1463040"/>
            <a:ext cx="8417400" cy="4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1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O levantamento bibliográfico demonstrou que:</a:t>
            </a:r>
            <a:endParaRPr>
              <a:solidFill>
                <a:schemeClr val="dk2"/>
              </a:solidFill>
            </a:endParaRPr>
          </a:p>
          <a:p>
            <a:pPr indent="-355600" lvl="1" marL="914400" rtl="0" algn="just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>
                <a:solidFill>
                  <a:schemeClr val="dk2"/>
                </a:solidFill>
              </a:rPr>
              <a:t>A principal distinção se dá entre as abordagens estáticas e dinâmicas. As estratégias dinâmicas se mostraram mais eficientes e escaláveis para ambientes com cargas de trabalho variáveis, enquanto as estáticas, apesar de mais simples, podem gerar gargalos em sistemas heterogêneos.</a:t>
            </a:r>
            <a:endParaRPr>
              <a:solidFill>
                <a:schemeClr val="dk2"/>
              </a:solidFill>
            </a:endParaRPr>
          </a:p>
          <a:p>
            <a:pPr indent="-355600" lvl="1" marL="914400" rtl="0" algn="just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>
                <a:solidFill>
                  <a:schemeClr val="dk2"/>
                </a:solidFill>
              </a:rPr>
              <a:t>A aplicação dos algoritmos é altamente dependente do contexto, variando em arquiteturas de nuvem, névoa e redes peer-to-peer. Tendências recentes apontam para a otimização do balanceamento com o uso de inteligência artificial, além de uma crescente preocupação com segurança e eficiência energética.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34735" y="250917"/>
            <a:ext cx="8380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Considerações finais 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334736" y="1463040"/>
            <a:ext cx="8417400" cy="4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18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2"/>
                </a:solidFill>
              </a:rPr>
              <a:t>Portanto, a escolha do método de balanceamento não é universal. É uma decisão de projeto crucial que depende diretamente das características da aplicação para garantir a otimização dos recursos e a qualidade do serviço.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334735" y="250917"/>
            <a:ext cx="838064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334736" y="1463040"/>
            <a:ext cx="8417377" cy="4770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CASAVANT, T. L.; KUHL, J. G. A taxonomy of scheduling in general-purpose distributed computing systems. IEEE transactions on software engineering, v. 14, n. 2, p. 141–154, 1988.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GERTEL, L. Introdução ao balanceamento de carga. Disponível em: &lt;https://lgertel.medium.com/introdu%C3%A7%C3%A3o-ao-balanceamento-de-carga-95da6199faa5&gt;.  Acesso em: 25 maio. 2025.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‌</a:t>
            </a:r>
            <a:endParaRPr/>
          </a:p>
          <a:p>
            <a:pPr indent="-762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just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7"/>
          <p:cNvSpPr txBox="1"/>
          <p:nvPr>
            <p:ph type="title"/>
          </p:nvPr>
        </p:nvSpPr>
        <p:spPr>
          <a:xfrm>
            <a:off x="334735" y="500216"/>
            <a:ext cx="8380640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</a:pPr>
            <a:r>
              <a:rPr lang="pt-BR"/>
              <a:t>Encerramento</a:t>
            </a:r>
            <a:endParaRPr/>
          </a:p>
        </p:txBody>
      </p:sp>
      <p:pic>
        <p:nvPicPr>
          <p:cNvPr descr="Uma imagem contendo ao ar livre, estrada, grama, homem&#10;&#10;Descrição gerada com muito alta confiança" id="254" name="Google Shape;254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9834" l="0" r="0" t="25550"/>
          <a:stretch/>
        </p:blipFill>
        <p:spPr>
          <a:xfrm>
            <a:off x="0" y="1248876"/>
            <a:ext cx="9144000" cy="211931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444307" y="4365104"/>
            <a:ext cx="8161496" cy="72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</a:pPr>
            <a:r>
              <a:rPr lang="pt-BR" sz="3600"/>
              <a:t>OBRIGADO(A)!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luiz.augusto\Downloads\Imagem1.png" id="260" name="Google Shape;2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0608" y="116632"/>
            <a:ext cx="10701340" cy="602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f89715846">
  <a:themeElements>
    <a:clrScheme name="MSFT_01">
      <a:dk1>
        <a:srgbClr val="000000"/>
      </a:dk1>
      <a:lt1>
        <a:srgbClr val="FFFFFF"/>
      </a:lt1>
      <a:dk2>
        <a:srgbClr val="3F3F3F"/>
      </a:dk2>
      <a:lt2>
        <a:srgbClr val="FFFFFF"/>
      </a:lt2>
      <a:accent1>
        <a:srgbClr val="01C6FD"/>
      </a:accent1>
      <a:accent2>
        <a:srgbClr val="067F9C"/>
      </a:accent2>
      <a:accent3>
        <a:srgbClr val="014E52"/>
      </a:accent3>
      <a:accent4>
        <a:srgbClr val="ED7D31"/>
      </a:accent4>
      <a:accent5>
        <a:srgbClr val="79AE02"/>
      </a:accent5>
      <a:accent6>
        <a:srgbClr val="0070C0"/>
      </a:accent6>
      <a:hlink>
        <a:srgbClr val="01C6FD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